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62" r:id="rId6"/>
    <p:sldId id="263" r:id="rId7"/>
    <p:sldId id="260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5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EF79F-A411-443E-9367-91E2F4670002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BE057-88C3-456A-880C-EFBCE078939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9130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BE057-88C3-456A-880C-EFBCE078939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6412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8C3-ADB4-4AD8-989D-D446F15BE2FD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CE60-1E6F-4FE5-B86E-D0B680D920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6632526"/>
      </p:ext>
    </p:extLst>
  </p:cSld>
  <p:clrMapOvr>
    <a:masterClrMapping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8C3-ADB4-4AD8-989D-D446F15BE2FD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CE60-1E6F-4FE5-B86E-D0B680D920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0261565"/>
      </p:ext>
    </p:extLst>
  </p:cSld>
  <p:clrMapOvr>
    <a:masterClrMapping/>
  </p:clrMapOvr>
  <p:transition spd="slow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8C3-ADB4-4AD8-989D-D446F15BE2FD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CE60-1E6F-4FE5-B86E-D0B680D920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5234184"/>
      </p:ext>
    </p:extLst>
  </p:cSld>
  <p:clrMapOvr>
    <a:masterClrMapping/>
  </p:clrMapOvr>
  <p:transition spd="slow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8C3-ADB4-4AD8-989D-D446F15BE2FD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CE60-1E6F-4FE5-B86E-D0B680D920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051227"/>
      </p:ext>
    </p:extLst>
  </p:cSld>
  <p:clrMapOvr>
    <a:masterClrMapping/>
  </p:clrMapOvr>
  <p:transition spd="slow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8C3-ADB4-4AD8-989D-D446F15BE2FD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CE60-1E6F-4FE5-B86E-D0B680D920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3941677"/>
      </p:ext>
    </p:extLst>
  </p:cSld>
  <p:clrMapOvr>
    <a:masterClrMapping/>
  </p:clrMapOvr>
  <p:transition spd="slow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8C3-ADB4-4AD8-989D-D446F15BE2FD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CE60-1E6F-4FE5-B86E-D0B680D920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6671716"/>
      </p:ext>
    </p:extLst>
  </p:cSld>
  <p:clrMapOvr>
    <a:masterClrMapping/>
  </p:clrMapOvr>
  <p:transition spd="slow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8C3-ADB4-4AD8-989D-D446F15BE2FD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CE60-1E6F-4FE5-B86E-D0B680D920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7257618"/>
      </p:ext>
    </p:extLst>
  </p:cSld>
  <p:clrMapOvr>
    <a:masterClrMapping/>
  </p:clrMapOvr>
  <p:transition spd="slow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8C3-ADB4-4AD8-989D-D446F15BE2FD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CE60-1E6F-4FE5-B86E-D0B680D920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8691277"/>
      </p:ext>
    </p:extLst>
  </p:cSld>
  <p:clrMapOvr>
    <a:masterClrMapping/>
  </p:clrMapOvr>
  <p:transition spd="slow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8C3-ADB4-4AD8-989D-D446F15BE2FD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CE60-1E6F-4FE5-B86E-D0B680D920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6347366"/>
      </p:ext>
    </p:extLst>
  </p:cSld>
  <p:clrMapOvr>
    <a:masterClrMapping/>
  </p:clrMapOvr>
  <p:transition spd="slow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8C3-ADB4-4AD8-989D-D446F15BE2FD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CE60-1E6F-4FE5-B86E-D0B680D920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4364741"/>
      </p:ext>
    </p:extLst>
  </p:cSld>
  <p:clrMapOvr>
    <a:masterClrMapping/>
  </p:clrMapOvr>
  <p:transition spd="slow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48C3-ADB4-4AD8-989D-D446F15BE2FD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CE60-1E6F-4FE5-B86E-D0B680D920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5300981"/>
      </p:ext>
    </p:extLst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CA448C3-ADB4-4AD8-989D-D446F15BE2FD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A25CE60-1E6F-4FE5-B86E-D0B680D920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71538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fade thruBlk="1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EA9F2D-2D60-7E73-B060-89D73B8EC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461" y="728664"/>
            <a:ext cx="4984813" cy="3157080"/>
          </a:xfrm>
          <a:noFill/>
        </p:spPr>
        <p:txBody>
          <a:bodyPr>
            <a:normAutofit/>
          </a:bodyPr>
          <a:lstStyle/>
          <a:p>
            <a:pPr algn="l"/>
            <a:r>
              <a:rPr lang="de-DE" sz="5200" i="1"/>
              <a:t>Fontane</a:t>
            </a:r>
            <a:br>
              <a:rPr lang="de-DE" sz="5200" i="1"/>
            </a:br>
            <a:r>
              <a:rPr lang="de-DE" sz="5200" i="1"/>
              <a:t>Effi Briest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5B948-A4E0-44F0-A9D1-1FF402D5B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1" y="4072045"/>
            <a:ext cx="4984813" cy="2057289"/>
          </a:xfrm>
          <a:noFill/>
        </p:spPr>
        <p:txBody>
          <a:bodyPr>
            <a:normAutofit/>
          </a:bodyPr>
          <a:lstStyle/>
          <a:p>
            <a:pPr algn="l"/>
            <a:r>
              <a:rPr lang="de-DE"/>
              <a:t>Quin Barnard</a:t>
            </a:r>
            <a:br>
              <a:rPr lang="de-DE"/>
            </a:br>
            <a:r>
              <a:rPr lang="de-DE"/>
              <a:t>#279202277</a:t>
            </a:r>
            <a:br>
              <a:rPr lang="de-DE"/>
            </a:br>
            <a:r>
              <a:rPr lang="de-DE"/>
              <a:t>D288</a:t>
            </a:r>
            <a:br>
              <a:rPr lang="de-DE"/>
            </a:br>
            <a:r>
              <a:rPr lang="de-DE"/>
              <a:t>den 21. August 2025</a:t>
            </a:r>
          </a:p>
        </p:txBody>
      </p:sp>
      <p:pic>
        <p:nvPicPr>
          <p:cNvPr id="1026" name="Picture 2" descr="Foto zum Film Fontane Effi Briest - Bild 5 auf 7 - FILMSTARTS.de">
            <a:extLst>
              <a:ext uri="{FF2B5EF4-FFF2-40B4-BE49-F238E27FC236}">
                <a16:creationId xmlns:a16="http://schemas.microsoft.com/office/drawing/2014/main" id="{154B49EF-B256-0176-A85E-14E476514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9787"/>
          <a:stretch>
            <a:fillRect/>
          </a:stretch>
        </p:blipFill>
        <p:spPr bwMode="auto">
          <a:xfrm>
            <a:off x="1" y="10"/>
            <a:ext cx="6005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684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73283-2051-0F0B-D23E-010894CF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6D357-6C68-6E2A-D7C9-46B03899E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AFE78-09C1-9BEC-BAAC-A48ABFB16C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5" b="4608"/>
          <a:stretch>
            <a:fillRect/>
          </a:stretch>
        </p:blipFill>
        <p:spPr>
          <a:xfrm>
            <a:off x="-394571" y="-53157"/>
            <a:ext cx="12981141" cy="696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74181"/>
      </p:ext>
    </p:extLst>
  </p:cSld>
  <p:clrMapOvr>
    <a:masterClrMapping/>
  </p:clrMapOvr>
  <p:transition spd="slow" advClick="0" advTm="1000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F7F8F8B-3FE1-3FD2-8936-D38F2B04C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518" y="-104775"/>
            <a:ext cx="9948294" cy="72675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DDD36B-4FA7-65BF-0E5D-E1FC3E8D1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679" y="0"/>
            <a:ext cx="2162266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E0F8CDB-B49A-58DB-A91C-1907B0FC6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945" y="-1"/>
            <a:ext cx="21622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196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80145-0359-1790-2A98-03F183CA3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CFA6E-7CC2-2CCD-B26A-5BC41C72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97CC1-B61E-13E6-470A-AF320DFE5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85DFCD-F73E-4B91-7E92-E300870BBA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5" b="4608"/>
          <a:stretch>
            <a:fillRect/>
          </a:stretch>
        </p:blipFill>
        <p:spPr>
          <a:xfrm>
            <a:off x="-394571" y="-53157"/>
            <a:ext cx="12981141" cy="696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37752"/>
      </p:ext>
    </p:extLst>
  </p:cSld>
  <p:clrMapOvr>
    <a:masterClrMapping/>
  </p:clrMapOvr>
  <p:transition spd="slow" advClick="0" advTm="1000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CD7E8A-E6B4-744B-527B-319161786A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3023" b="992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F77B48-CB99-CDEB-937D-06AAA66EF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3564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i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„It is not a film that tells a story, but a film that traces an attitude. It’s the attitude of a person who sees through the failings and the weakness of his society and also criticizes them, but still recognizes this society as the valid one for him.“</a:t>
            </a:r>
            <a:br>
              <a:rPr lang="en-US" sz="3700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</a:br>
            <a:endParaRPr lang="en-US" sz="3700" dirty="0">
              <a:ln w="22225">
                <a:solidFill>
                  <a:schemeClr val="tx1"/>
                </a:solidFill>
                <a:miter lim="800000"/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960348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B974F-D3C6-5DA7-FFDB-BFBB75E9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5B690-FDD8-F74F-8D9D-1CA028CDD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6C2B6-C13E-C634-F857-EFFB67B75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DF3D3F-9A14-B608-A6AC-D578F168C8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5" b="4608"/>
          <a:stretch>
            <a:fillRect/>
          </a:stretch>
        </p:blipFill>
        <p:spPr>
          <a:xfrm>
            <a:off x="-394571" y="-53157"/>
            <a:ext cx="12981141" cy="696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70351"/>
      </p:ext>
    </p:extLst>
  </p:cSld>
  <p:clrMapOvr>
    <a:masterClrMapping/>
  </p:clrMapOvr>
  <p:transition spd="slow" advClick="0" advTm="1000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D1C71E-5DDD-408C-5C0F-1717A05F4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Why Do Rainer Werner Fassbinder's Films Still Resonate? - JSTOR Daily">
            <a:extLst>
              <a:ext uri="{FF2B5EF4-FFF2-40B4-BE49-F238E27FC236}">
                <a16:creationId xmlns:a16="http://schemas.microsoft.com/office/drawing/2014/main" id="{EDC5E945-0A75-067B-364D-088B3B49F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4" r="-1" b="-1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4" name="Rectangle 206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87553-3386-A3A6-20F6-5DA26C14E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418" y="1919287"/>
            <a:ext cx="4362450" cy="3019425"/>
          </a:xfrm>
        </p:spPr>
        <p:txBody>
          <a:bodyPr>
            <a:noAutofit/>
          </a:bodyPr>
          <a:lstStyle/>
          <a:p>
            <a:r>
              <a:rPr lang="de-DE" dirty="0"/>
              <a:t>Geboren am 31. Mai 1945 im Bad Wörishofen </a:t>
            </a:r>
          </a:p>
          <a:p>
            <a:r>
              <a:rPr lang="de-DE" dirty="0"/>
              <a:t>Startet 1968 Karriere als Regisseur</a:t>
            </a:r>
          </a:p>
          <a:p>
            <a:r>
              <a:rPr lang="de-DE" i="1" dirty="0"/>
              <a:t>Fontane Effi Briest </a:t>
            </a:r>
            <a:r>
              <a:rPr lang="de-DE" dirty="0"/>
              <a:t>erschien im Jahr 1974</a:t>
            </a:r>
          </a:p>
          <a:p>
            <a:r>
              <a:rPr lang="de-DE" dirty="0"/>
              <a:t>Stirbt im 1982 </a:t>
            </a:r>
          </a:p>
        </p:txBody>
      </p:sp>
    </p:spTree>
    <p:extLst>
      <p:ext uri="{BB962C8B-B14F-4D97-AF65-F5344CB8AC3E}">
        <p14:creationId xmlns:p14="http://schemas.microsoft.com/office/powerpoint/2010/main" val="1278960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fade thruBlk="1"/>
      </p:transition>
    </mc:Choice>
    <mc:Fallback>
      <p:transition spd="slow">
        <p:fade thruBlk="1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3B0F6-24F3-A076-201C-140E9426A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574A1-EA7D-06FC-CCAD-4C9475E5D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0A2FB-0EA9-BDCC-1015-943563280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12733C-1225-B11E-B784-1D6F876ED3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5" b="4608"/>
          <a:stretch>
            <a:fillRect/>
          </a:stretch>
        </p:blipFill>
        <p:spPr>
          <a:xfrm>
            <a:off x="-394571" y="-53157"/>
            <a:ext cx="12981141" cy="696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28183"/>
      </p:ext>
    </p:extLst>
  </p:cSld>
  <p:clrMapOvr>
    <a:masterClrMapping/>
  </p:clrMapOvr>
  <p:transition spd="slow" advClick="0" advTm="1000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05120B-732F-31AE-9502-17CBC01353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5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09E015-E603-E085-7D1C-29B748169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6071" y="466724"/>
            <a:ext cx="4330190" cy="2733675"/>
          </a:xfrm>
        </p:spPr>
        <p:txBody>
          <a:bodyPr>
            <a:normAutofit/>
          </a:bodyPr>
          <a:lstStyle/>
          <a:p>
            <a:r>
              <a:rPr lang="de-DE" sz="4000"/>
              <a:t>Fassbinder setzt oft Frauen in der Hauptrolle</a:t>
            </a:r>
            <a:endParaRPr lang="de-D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81E27-0CB1-D97D-AFB0-7102BFDE6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8977" y="3657602"/>
            <a:ext cx="3822189" cy="2158763"/>
          </a:xfrm>
        </p:spPr>
        <p:txBody>
          <a:bodyPr>
            <a:noAutofit/>
          </a:bodyPr>
          <a:lstStyle/>
          <a:p>
            <a:r>
              <a:rPr lang="de-DE" sz="2400" i="1"/>
              <a:t>Effi Briest </a:t>
            </a:r>
            <a:r>
              <a:rPr lang="de-DE" sz="2400"/>
              <a:t>ist geeignet, weil Fassbinder etwa Feministisch is</a:t>
            </a:r>
          </a:p>
          <a:p>
            <a:r>
              <a:rPr lang="de-DE" sz="2400" i="1"/>
              <a:t>„Ich nehme Frauen ernster, als es Regisseurs sonst tun.“</a:t>
            </a:r>
            <a:endParaRPr lang="de-DE" sz="2400" i="1" dirty="0"/>
          </a:p>
        </p:txBody>
      </p:sp>
    </p:spTree>
    <p:extLst>
      <p:ext uri="{BB962C8B-B14F-4D97-AF65-F5344CB8AC3E}">
        <p14:creationId xmlns:p14="http://schemas.microsoft.com/office/powerpoint/2010/main" val="1932128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fade thruBlk="1"/>
      </p:transition>
    </mc:Choice>
    <mc:Fallback>
      <p:transition spd="slow">
        <p:fade thruBlk="1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18E2-688A-1E8C-A13B-5DFFB2009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B9843-5AEC-3BD2-6CEC-3F640D188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8BDC9-36E1-83F0-0138-30A6014DE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B8678-7B79-3A24-3EE4-FB35E8BB12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5" b="4608"/>
          <a:stretch>
            <a:fillRect/>
          </a:stretch>
        </p:blipFill>
        <p:spPr>
          <a:xfrm>
            <a:off x="-394571" y="-53157"/>
            <a:ext cx="12981141" cy="696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8668"/>
      </p:ext>
    </p:extLst>
  </p:cSld>
  <p:clrMapOvr>
    <a:masterClrMapping/>
  </p:clrMapOvr>
  <p:transition spd="slow" advClick="0" advTm="1000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025-08-17 19-03-03">
            <a:hlinkClick r:id="" action="ppaction://media"/>
            <a:extLst>
              <a:ext uri="{FF2B5EF4-FFF2-40B4-BE49-F238E27FC236}">
                <a16:creationId xmlns:a16="http://schemas.microsoft.com/office/drawing/2014/main" id="{A883D028-4BCC-0D3B-C540-4EA8D61DEFC8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277" cy="6858000"/>
          </a:xfrm>
        </p:spPr>
      </p:pic>
    </p:spTree>
    <p:extLst>
      <p:ext uri="{BB962C8B-B14F-4D97-AF65-F5344CB8AC3E}">
        <p14:creationId xmlns:p14="http://schemas.microsoft.com/office/powerpoint/2010/main" val="3479134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91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C56D8-5688-F0F4-6BBD-13A8CE68E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15695-D85C-0949-0272-74C1EB24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5818B-0290-4E51-B789-6E03B3C8A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BF4BA-9CB0-115F-E073-07A7CB7F0B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5" b="4608"/>
          <a:stretch>
            <a:fillRect/>
          </a:stretch>
        </p:blipFill>
        <p:spPr>
          <a:xfrm>
            <a:off x="-394571" y="-53157"/>
            <a:ext cx="12981141" cy="696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19143"/>
      </p:ext>
    </p:extLst>
  </p:cSld>
  <p:clrMapOvr>
    <a:masterClrMapping/>
  </p:clrMapOvr>
  <p:transition spd="slow" advClick="0" advTm="1000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FDB12-5CD6-03C4-0433-D63D80F9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FB053-36B1-44C7-3819-4F28C78D0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F62C4D-100D-7AEB-689F-CA02FAB9B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47075"/>
      </p:ext>
    </p:extLst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3D7C7-4F3A-3CB5-BA87-486BF257F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60D35-F476-0BDA-C151-CA425D19A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10BBB-352F-9912-C408-FFC3E1B21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6EC65-A129-CD14-EA69-8BE4A481C6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5" b="4608"/>
          <a:stretch>
            <a:fillRect/>
          </a:stretch>
        </p:blipFill>
        <p:spPr>
          <a:xfrm>
            <a:off x="-394571" y="-53157"/>
            <a:ext cx="12981141" cy="696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32745"/>
      </p:ext>
    </p:extLst>
  </p:cSld>
  <p:clrMapOvr>
    <a:masterClrMapping/>
  </p:clrMapOvr>
  <p:transition spd="slow" advClick="0" advTm="1000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3216DE-6291-52B7-C283-61A9BB89E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477" b="3482"/>
          <a:stretch>
            <a:fillRect/>
          </a:stretch>
        </p:blipFill>
        <p:spPr>
          <a:xfrm>
            <a:off x="-1504" y="0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A9F36D-2B27-2C07-9697-A6A020B56D0F}"/>
              </a:ext>
            </a:extLst>
          </p:cNvPr>
          <p:cNvSpPr txBox="1"/>
          <p:nvPr/>
        </p:nvSpPr>
        <p:spPr>
          <a:xfrm>
            <a:off x="808868" y="4508500"/>
            <a:ext cx="1057426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/>
              <a:t>Quellen:</a:t>
            </a:r>
            <a:endParaRPr lang="en-US" sz="3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de-DE" sz="2000" dirty="0" err="1"/>
              <a:t>Hutcheon</a:t>
            </a:r>
            <a:r>
              <a:rPr lang="de-DE" sz="2000" dirty="0"/>
              <a:t>, Linda: A Theory </a:t>
            </a:r>
            <a:r>
              <a:rPr lang="de-DE" sz="2000" dirty="0" err="1"/>
              <a:t>of</a:t>
            </a:r>
            <a:r>
              <a:rPr lang="de-DE" sz="2000" dirty="0"/>
              <a:t> Adaptation, New York, 2006.</a:t>
            </a:r>
            <a:endParaRPr lang="en-US" sz="20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de-DE" sz="2000" dirty="0"/>
              <a:t>Peucker, Brigitte (</a:t>
            </a:r>
            <a:r>
              <a:rPr lang="de-DE" sz="2000" dirty="0" err="1"/>
              <a:t>Hg</a:t>
            </a:r>
            <a:r>
              <a:rPr lang="de-DE" sz="2000" dirty="0"/>
              <a:t>.): A Companion </a:t>
            </a:r>
            <a:r>
              <a:rPr lang="de-DE" sz="2000" dirty="0" err="1"/>
              <a:t>to</a:t>
            </a:r>
            <a:r>
              <a:rPr lang="de-DE" sz="2000" dirty="0"/>
              <a:t> Rainer Werner Fassbinder, Sussex, 2012.</a:t>
            </a:r>
            <a:endParaRPr lang="en-US" sz="20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de-DE" sz="2000" dirty="0"/>
              <a:t>Aslan Almond, Adile: Reading Rainer </a:t>
            </a:r>
            <a:r>
              <a:rPr lang="de-DE" sz="2000" dirty="0" err="1"/>
              <a:t>Fassbinder’s</a:t>
            </a:r>
            <a:r>
              <a:rPr lang="de-DE" sz="2000" dirty="0"/>
              <a:t> </a:t>
            </a:r>
            <a:r>
              <a:rPr lang="de-DE" sz="2000" dirty="0" err="1"/>
              <a:t>adaptation</a:t>
            </a:r>
            <a:r>
              <a:rPr lang="de-DE" sz="2000" dirty="0"/>
              <a:t> </a:t>
            </a:r>
            <a:r>
              <a:rPr lang="de-DE" sz="2000" i="1" dirty="0"/>
              <a:t>Fontane Effi Briest</a:t>
            </a:r>
            <a:r>
              <a:rPr lang="de-DE" sz="2000" dirty="0"/>
              <a:t> In: Cultura. International Journal </a:t>
            </a:r>
            <a:r>
              <a:rPr lang="de-DE" sz="2000" dirty="0" err="1"/>
              <a:t>of</a:t>
            </a:r>
            <a:r>
              <a:rPr lang="de-DE" sz="2000" dirty="0"/>
              <a:t> Philosophy </a:t>
            </a:r>
            <a:r>
              <a:rPr lang="de-DE" sz="2000" dirty="0" err="1"/>
              <a:t>of</a:t>
            </a:r>
            <a:r>
              <a:rPr lang="de-DE" sz="2000" dirty="0"/>
              <a:t> Culture and </a:t>
            </a:r>
            <a:r>
              <a:rPr lang="de-DE" sz="2000" dirty="0" err="1"/>
              <a:t>Axiology</a:t>
            </a:r>
            <a:r>
              <a:rPr lang="de-DE" sz="2000" dirty="0"/>
              <a:t> 13 (2016), H. 2.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48758969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</TotalTime>
  <Words>190</Words>
  <Application>Microsoft Office PowerPoint</Application>
  <PresentationFormat>Widescreen</PresentationFormat>
  <Paragraphs>15</Paragraphs>
  <Slides>15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Fontane Effi Briest</vt:lpstr>
      <vt:lpstr>PowerPoint Presentation</vt:lpstr>
      <vt:lpstr>PowerPoint Presentation</vt:lpstr>
      <vt:lpstr>PowerPoint Presentation</vt:lpstr>
      <vt:lpstr>„It is not a film that tells a story, but a film that traces an attitude. It’s the attitude of a person who sees through the failings and the weakness of his society and also criticizes them, but still recognizes this society as the valid one for him.“ </vt:lpstr>
      <vt:lpstr>PowerPoint Presentation</vt:lpstr>
      <vt:lpstr>PowerPoint Presentation</vt:lpstr>
      <vt:lpstr>PowerPoint Presentation</vt:lpstr>
      <vt:lpstr>Fassbinder setzt oft Frauen in der Hauptrolle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Barnard, QC, Mr [27902277@sun.ac.za]</dc:creator>
  <cp:lastModifiedBy>Barnard, QC, Mr [27902277@sun.ac.za]</cp:lastModifiedBy>
  <cp:revision>1</cp:revision>
  <dcterms:created xsi:type="dcterms:W3CDTF">2025-08-17T16:10:46Z</dcterms:created>
  <dcterms:modified xsi:type="dcterms:W3CDTF">2025-08-17T17:37:24Z</dcterms:modified>
</cp:coreProperties>
</file>