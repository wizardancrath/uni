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43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4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8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6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0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4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1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7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25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5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2" name="Rectangle 109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A63A5-6B29-3ED9-09FE-DF5D2D510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442" y="4474103"/>
            <a:ext cx="7031117" cy="933905"/>
          </a:xfrm>
        </p:spPr>
        <p:txBody>
          <a:bodyPr anchor="b">
            <a:normAutofit/>
          </a:bodyPr>
          <a:lstStyle/>
          <a:p>
            <a:pPr algn="ctr"/>
            <a:r>
              <a:rPr lang="de-DE" sz="4400" noProof="1"/>
              <a:t>Der Expressionismus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BFD8E-168C-2F7E-4700-261BEB51B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442" y="5765290"/>
            <a:ext cx="7031117" cy="640705"/>
          </a:xfrm>
        </p:spPr>
        <p:txBody>
          <a:bodyPr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de-DE" sz="1100" noProof="1"/>
              <a:t>Quin Barnard &amp; Asheeqah Hajie</a:t>
            </a:r>
          </a:p>
          <a:p>
            <a:pPr algn="ctr">
              <a:lnSpc>
                <a:spcPct val="120000"/>
              </a:lnSpc>
            </a:pPr>
            <a:r>
              <a:rPr lang="de-DE" sz="900" i="1" noProof="1"/>
              <a:t>Die großen blauen Pferde, Franz Marc</a:t>
            </a:r>
          </a:p>
        </p:txBody>
      </p:sp>
      <p:pic>
        <p:nvPicPr>
          <p:cNvPr id="1026" name="Picture 2" descr="A painting of horses in a field&#10;&#10;AI-generated content may be incorrect.">
            <a:extLst>
              <a:ext uri="{FF2B5EF4-FFF2-40B4-BE49-F238E27FC236}">
                <a16:creationId xmlns:a16="http://schemas.microsoft.com/office/drawing/2014/main" id="{21139F9D-BB70-94FD-39F6-6976377C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2232" y="735290"/>
            <a:ext cx="6247536" cy="357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55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xample of an impressionist painting by Wassily Kandinsky 'Street in Murnau with Women', 1908">
            <a:extLst>
              <a:ext uri="{FF2B5EF4-FFF2-40B4-BE49-F238E27FC236}">
                <a16:creationId xmlns:a16="http://schemas.microsoft.com/office/drawing/2014/main" id="{500054A0-CB7D-3D11-0E5B-624ADDAC76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t="27477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D08829-4CA5-B1E3-40ED-B81CCE514EA1}"/>
              </a:ext>
            </a:extLst>
          </p:cNvPr>
          <p:cNvSpPr txBox="1"/>
          <p:nvPr/>
        </p:nvSpPr>
        <p:spPr>
          <a:xfrm>
            <a:off x="1882775" y="1905506"/>
            <a:ext cx="84264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i="1" noProof="1">
                <a:solidFill>
                  <a:schemeClr val="bg1">
                    <a:lumMod val="65000"/>
                  </a:schemeClr>
                </a:solidFill>
              </a:rPr>
              <a:t>„[…] die Vision drängt überall vor, die Zeichnung der Wirklichkeiten gilt nur als Gegenhalt, sie kann stark sein, kann aber auch fast schwinden. […]  [Benn] findet bei Heym Verse, die nicht die üblicherweise erwarteten Kennzeichen des Expressionismus haben. […] Benn sieht das Verbindende eher im gemeinsamen Weltgefühl, in gemeinsamer Wirklichkeitsfeindschaft.“</a:t>
            </a:r>
            <a:endParaRPr lang="de-DE" sz="2400" noProof="1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de-DE" sz="2000" i="1" noProof="1">
                <a:solidFill>
                  <a:schemeClr val="bg1">
                    <a:lumMod val="65000"/>
                  </a:schemeClr>
                </a:solidFill>
              </a:rPr>
              <a:t>-Wolfdietrich Rasch, 1967</a:t>
            </a:r>
            <a:endParaRPr lang="de-DE" sz="2000" noProof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75C34-8F02-5C06-0885-9C8BA9D8D37F}"/>
              </a:ext>
            </a:extLst>
          </p:cNvPr>
          <p:cNvSpPr txBox="1"/>
          <p:nvPr/>
        </p:nvSpPr>
        <p:spPr>
          <a:xfrm>
            <a:off x="8720571" y="5994401"/>
            <a:ext cx="317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i="1" noProof="1">
                <a:solidFill>
                  <a:schemeClr val="bg1">
                    <a:lumMod val="65000"/>
                  </a:schemeClr>
                </a:solidFill>
              </a:rPr>
              <a:t>Straße in Murnau mit Frauen</a:t>
            </a:r>
          </a:p>
          <a:p>
            <a:pPr algn="r"/>
            <a:r>
              <a:rPr lang="de-DE" i="1" noProof="1">
                <a:solidFill>
                  <a:schemeClr val="bg1">
                    <a:lumMod val="65000"/>
                  </a:schemeClr>
                </a:solidFill>
              </a:rPr>
              <a:t>Wassily Kandinsky</a:t>
            </a:r>
          </a:p>
        </p:txBody>
      </p:sp>
    </p:spTree>
    <p:extLst>
      <p:ext uri="{BB962C8B-B14F-4D97-AF65-F5344CB8AC3E}">
        <p14:creationId xmlns:p14="http://schemas.microsoft.com/office/powerpoint/2010/main" val="143669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55" name="Rectangle 615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AD370-872A-DA14-541B-DDB47D83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832266"/>
            <a:ext cx="10890915" cy="7884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z="4000" noProof="1"/>
              <a:t>Grundsätze des Expressionismus</a:t>
            </a:r>
          </a:p>
        </p:txBody>
      </p:sp>
      <p:pic>
        <p:nvPicPr>
          <p:cNvPr id="6146" name="Picture 2" descr="Portrait of Friedrich Nietzsche by Edvard Munch – Art print, wall art,  posters and framed art">
            <a:extLst>
              <a:ext uri="{FF2B5EF4-FFF2-40B4-BE49-F238E27FC236}">
                <a16:creationId xmlns:a16="http://schemas.microsoft.com/office/drawing/2014/main" id="{26B6B61A-2275-84D7-3234-AACD09B0469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53"/>
          <a:stretch>
            <a:fillRect/>
          </a:stretch>
        </p:blipFill>
        <p:spPr bwMode="auto">
          <a:xfrm>
            <a:off x="768096" y="2092362"/>
            <a:ext cx="3597107" cy="47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igmund Freud - Wikipedia">
            <a:extLst>
              <a:ext uri="{FF2B5EF4-FFF2-40B4-BE49-F238E27FC236}">
                <a16:creationId xmlns:a16="http://schemas.microsoft.com/office/drawing/2014/main" id="{F9EEF289-60F7-C455-D232-4BB5B13A0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3"/>
          <a:stretch>
            <a:fillRect/>
          </a:stretch>
        </p:blipFill>
        <p:spPr bwMode="auto">
          <a:xfrm>
            <a:off x="4365203" y="2092363"/>
            <a:ext cx="3597106" cy="47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2313" y="2092362"/>
            <a:ext cx="0" cy="477267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4A289-1F99-2994-6D9A-E02AF333F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38025" y="2007381"/>
            <a:ext cx="2992981" cy="428350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noProof="1"/>
              <a:t>Wirklichkeitsfeindschaft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noProof="1"/>
              <a:t>Sehr stark von Nietzsche und Freud beeinflusst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noProof="1"/>
              <a:t>Künstler spricht unmittelbar mit dem Leser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noProof="1"/>
              <a:t>Säkularistisch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noProof="1"/>
              <a:t>Individualistisch</a:t>
            </a:r>
          </a:p>
          <a:p>
            <a:pPr>
              <a:buFont typeface="Arial" panose="020B0604020202020204" pitchFamily="34" charset="0"/>
              <a:buChar char="•"/>
            </a:pPr>
            <a:endParaRPr lang="de-DE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DCEF9-95A4-B6A3-45CE-994134919B6F}"/>
              </a:ext>
            </a:extLst>
          </p:cNvPr>
          <p:cNvSpPr txBox="1"/>
          <p:nvPr/>
        </p:nvSpPr>
        <p:spPr>
          <a:xfrm>
            <a:off x="851074" y="6192325"/>
            <a:ext cx="2938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>
                <a:solidFill>
                  <a:schemeClr val="bg1">
                    <a:lumMod val="95000"/>
                  </a:schemeClr>
                </a:solidFill>
              </a:rPr>
              <a:t>Friedrich Nietzsche, Edvard Munch</a:t>
            </a:r>
          </a:p>
        </p:txBody>
      </p:sp>
    </p:spTree>
    <p:extLst>
      <p:ext uri="{BB962C8B-B14F-4D97-AF65-F5344CB8AC3E}">
        <p14:creationId xmlns:p14="http://schemas.microsoft.com/office/powerpoint/2010/main" val="198828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48E3B-5731-5B66-2603-53CDDB27AEF3}"/>
              </a:ext>
            </a:extLst>
          </p:cNvPr>
          <p:cNvSpPr txBox="1"/>
          <p:nvPr/>
        </p:nvSpPr>
        <p:spPr>
          <a:xfrm>
            <a:off x="4904508" y="2752436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ASHEEQAH MUSIEK</a:t>
            </a:r>
          </a:p>
        </p:txBody>
      </p:sp>
    </p:spTree>
    <p:extLst>
      <p:ext uri="{BB962C8B-B14F-4D97-AF65-F5344CB8AC3E}">
        <p14:creationId xmlns:p14="http://schemas.microsoft.com/office/powerpoint/2010/main" val="415939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02" name="Straight Connector 720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04" name="Rectangle 720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69F2B-8838-E9A9-012E-1370EAF0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noProof="1"/>
              <a:t>Expressionistische Malerei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84822-3C3C-4173-4AA1-070183A16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cap="all" spc="300" noProof="1"/>
              <a:t>Wassily Kandinsky und Franz Marc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cap="all" spc="300" noProof="1"/>
              <a:t>Waren Unzufrieden mit dem Impressionismus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cap="all" spc="300" noProof="1"/>
              <a:t>Verformung alles sichtbares = „entwertung aller werte“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cap="all" spc="300" noProof="1"/>
          </a:p>
        </p:txBody>
      </p:sp>
      <p:pic>
        <p:nvPicPr>
          <p:cNvPr id="7170" name="Picture 2" descr="The Blue Rider (Kandinsky) - Wikipedia">
            <a:extLst>
              <a:ext uri="{FF2B5EF4-FFF2-40B4-BE49-F238E27FC236}">
                <a16:creationId xmlns:a16="http://schemas.microsoft.com/office/drawing/2014/main" id="{B6555294-9AD5-041D-6FF8-8A1E03BCD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3" r="-1" b="8167"/>
          <a:stretch>
            <a:fillRect/>
          </a:stretch>
        </p:blipFill>
        <p:spPr bwMode="auto">
          <a:xfrm>
            <a:off x="5671128" y="914399"/>
            <a:ext cx="6520872" cy="535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06" name="Straight Connector 7205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7019B8-49D8-CD04-FCA2-C790792D310F}"/>
              </a:ext>
            </a:extLst>
          </p:cNvPr>
          <p:cNvSpPr txBox="1"/>
          <p:nvPr/>
        </p:nvSpPr>
        <p:spPr>
          <a:xfrm>
            <a:off x="10135027" y="5593462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Der Blaue Reiter</a:t>
            </a:r>
          </a:p>
          <a:p>
            <a:pPr algn="r"/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Wassily Kandinsky</a:t>
            </a:r>
          </a:p>
        </p:txBody>
      </p:sp>
    </p:spTree>
    <p:extLst>
      <p:ext uri="{BB962C8B-B14F-4D97-AF65-F5344CB8AC3E}">
        <p14:creationId xmlns:p14="http://schemas.microsoft.com/office/powerpoint/2010/main" val="411348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ox (Marc) - Wikipedia">
            <a:extLst>
              <a:ext uri="{FF2B5EF4-FFF2-40B4-BE49-F238E27FC236}">
                <a16:creationId xmlns:a16="http://schemas.microsoft.com/office/drawing/2014/main" id="{A5B36B77-895E-40F4-561F-5655F9911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68486"/>
            <a:ext cx="5936456" cy="470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AA0349-923A-EFAD-2CBB-4432EC0DF065}"/>
              </a:ext>
            </a:extLst>
          </p:cNvPr>
          <p:cNvSpPr txBox="1"/>
          <p:nvPr/>
        </p:nvSpPr>
        <p:spPr>
          <a:xfrm>
            <a:off x="10700040" y="5609861"/>
            <a:ext cx="133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Fuchs</a:t>
            </a:r>
          </a:p>
          <a:p>
            <a:pPr algn="r"/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Franz Marc</a:t>
            </a:r>
          </a:p>
        </p:txBody>
      </p:sp>
      <p:pic>
        <p:nvPicPr>
          <p:cNvPr id="9220" name="Picture 4" descr="Vasily Kandinsky, Improvisation 28 (second version), 1912, oil on canvas 111.4 x 162.1 cm (Solomon R. Guggenheim Museum, New York)">
            <a:extLst>
              <a:ext uri="{FF2B5EF4-FFF2-40B4-BE49-F238E27FC236}">
                <a16:creationId xmlns:a16="http://schemas.microsoft.com/office/drawing/2014/main" id="{DDAE49DB-354D-BDF1-06CD-94C85FE7C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43" y="1249574"/>
            <a:ext cx="5533877" cy="374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01A12F-F7B2-2755-5FDF-8F1E1566545A}"/>
              </a:ext>
            </a:extLst>
          </p:cNvPr>
          <p:cNvSpPr txBox="1"/>
          <p:nvPr/>
        </p:nvSpPr>
        <p:spPr>
          <a:xfrm>
            <a:off x="267843" y="5609861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Improvisation 28</a:t>
            </a:r>
          </a:p>
          <a:p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Wassily Kandinsky</a:t>
            </a:r>
          </a:p>
        </p:txBody>
      </p:sp>
    </p:spTree>
    <p:extLst>
      <p:ext uri="{BB962C8B-B14F-4D97-AF65-F5344CB8AC3E}">
        <p14:creationId xmlns:p14="http://schemas.microsoft.com/office/powerpoint/2010/main" val="382745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DC97-E292-F1AA-9613-BE97BA3F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C0523-E0BC-9D86-D5FB-0D7214CFACBA}"/>
              </a:ext>
            </a:extLst>
          </p:cNvPr>
          <p:cNvSpPr txBox="1"/>
          <p:nvPr/>
        </p:nvSpPr>
        <p:spPr>
          <a:xfrm>
            <a:off x="4904508" y="2752436"/>
            <a:ext cx="300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ASHEEQAH BUTTERBLUME</a:t>
            </a:r>
          </a:p>
        </p:txBody>
      </p:sp>
    </p:spTree>
    <p:extLst>
      <p:ext uri="{BB962C8B-B14F-4D97-AF65-F5344CB8AC3E}">
        <p14:creationId xmlns:p14="http://schemas.microsoft.com/office/powerpoint/2010/main" val="239568685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147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Der Expressionismus</vt:lpstr>
      <vt:lpstr>PowerPoint Presentation</vt:lpstr>
      <vt:lpstr>Grundsätze des Expressionismus</vt:lpstr>
      <vt:lpstr>PowerPoint Presentation</vt:lpstr>
      <vt:lpstr>Expressionistische Malerei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Barnard, QC, Mr [27902277@sun.ac.za]</dc:creator>
  <cp:lastModifiedBy>Barnard, QC, Mr [27902277@sun.ac.za]</cp:lastModifiedBy>
  <cp:revision>2</cp:revision>
  <dcterms:created xsi:type="dcterms:W3CDTF">2025-10-12T19:20:52Z</dcterms:created>
  <dcterms:modified xsi:type="dcterms:W3CDTF">2025-10-12T20:08:24Z</dcterms:modified>
</cp:coreProperties>
</file>