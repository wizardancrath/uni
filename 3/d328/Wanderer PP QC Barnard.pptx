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7E26-785F-5D8B-8AC1-086263383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4A4D0-8004-DD5E-FEC6-DA209B066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60343-C81A-537B-9E78-4A1EE45C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90006-DCC3-DA83-576F-09A4967C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EE361-65E0-3334-9B4B-B0E483E5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57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8303-9E3D-72F9-D359-E7D28A3D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8270-CEC0-B238-489F-90EE7A7B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99CA-AE23-0499-DAAE-A979ABF6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1F25C-6FE5-C753-4B72-9397491C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A44CE-2466-048E-811D-CB66CE98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26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3D7D-F3A7-83DC-717E-52DB0C3C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DBB4-CFEB-24A1-E94B-AF5D2F1AD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3E44-511C-1ACB-E81D-698EB0C5D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7AD02-B190-4820-5300-A3DD1940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572CB-3001-C2B1-80CB-D3708073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55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6303-4BE3-39A6-EF36-0D96C9FFE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5DEF2-6927-0976-C393-9A9C284FB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5E9CB-5212-4EB3-3DB2-456C042ED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F8614-A111-40AB-00BF-201AD23A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AC2BD-56C1-2140-2663-0FEDF07E8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BE8EE-DEDF-3038-F192-565E5E6CA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95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9DFC-9452-EED4-91DD-9B922228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5F8AB-0ECC-D00E-AA4C-4223EA213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0C838-D251-FB7A-2DFF-0E54D8742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2605E-7D7B-1FB5-0665-D99A203A0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488DC-E6B2-987B-4EFF-0FA19BE82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4D5FD-CB2D-121A-D0D8-F8E953B5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18831-B5CC-4A8D-2BE3-0B48BAB6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C9B4F-A351-FAD6-E486-BAFA445F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92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E3DE-6EC3-CD8F-77B2-7B009AD1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FAAD2-5E07-0CDC-237D-DBC44D2E4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A35BB-996F-5725-60BC-A01C2D14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757D2-A438-74D8-3E35-DCAC5A779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886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6EB52-D9AE-B41C-035E-5B3294C4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A40984-4522-1FD1-B638-600737BE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B03D8-2CD5-4518-8093-28971A42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41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6FD3-9062-B99C-2E2D-17CEDD29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84FAA-602D-EB59-F9D8-6AFC684C2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A602B-DF89-2515-4316-02A6717E4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7D1D5-869C-CF81-8336-790C5932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62CB5-97B9-3370-59A6-2C348504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7675D-8338-EC01-3702-95CBDA6C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614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FF0E-1935-F5C8-1A83-20D56DD5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278AAD-1415-9CF3-AC09-DBCE50EF2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08463-C374-CDC4-D863-7B245C85A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C563E-2C61-FF44-2BA0-EB98E0DA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6322F-3E5C-8CE6-3FC5-2E5EF474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DF5F8-066C-10F2-8154-473C8923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96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8A59-0408-2BC1-E918-168FE7D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765F6-D3C5-CBCA-2B3B-F5335662E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E089-651D-528F-CFF5-D8B69121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6FED-00FC-5FE9-10ED-B55EDA81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DC808-1108-2A00-F721-2A3875E7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199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897E7-990E-9C93-317E-3385DE453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35EDB-B158-4AAA-1EE0-89D967E49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2A97C-EC03-85A8-AC56-438B9282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43F0B-65C7-F98E-3EA6-52D0D8D4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64604-0678-7C0B-963C-E77E82B9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54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DAE014-9D47-3078-54AE-BC4C7030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6084B-FAE5-2676-DA1D-27070A8A7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9C669-F50C-3514-40A1-7F3935BEB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13E2A-D4E0-492D-974D-28612742A76D}" type="datetimeFigureOut">
              <a:rPr lang="de-DE" smtClean="0"/>
              <a:t>15.02.2026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4919A-C3EC-91F8-7A02-A65E82FBF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4117D-5FD9-E9F0-F611-EB4CD7169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33B51E-E629-4703-BD14-A85B568A91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47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atch 300 | Netflix">
            <a:extLst>
              <a:ext uri="{FF2B5EF4-FFF2-40B4-BE49-F238E27FC236}">
                <a16:creationId xmlns:a16="http://schemas.microsoft.com/office/drawing/2014/main" id="{7F71BEB4-1410-1F8E-6423-37F019D2C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97DA6-EA37-3E00-DDCD-FFE9652B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 sz="5200" dirty="0">
                <a:solidFill>
                  <a:srgbClr val="FFFFFF"/>
                </a:solidFill>
              </a:rPr>
              <a:t>Wanderer, kommst du nach </a:t>
            </a:r>
            <a:r>
              <a:rPr lang="de-DE" sz="5200" dirty="0" err="1">
                <a:solidFill>
                  <a:srgbClr val="FFFFFF"/>
                </a:solidFill>
              </a:rPr>
              <a:t>Spa</a:t>
            </a:r>
            <a:r>
              <a:rPr lang="de-DE" sz="5200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6DEA5-A12A-EAEF-B605-9D5720374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 i="1" dirty="0">
                <a:solidFill>
                  <a:srgbClr val="FFFFFF"/>
                </a:solidFill>
              </a:rPr>
              <a:t>Heinrich Böll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2B132-B620-0C1E-DF93-3EA337378AE0}"/>
              </a:ext>
            </a:extLst>
          </p:cNvPr>
          <p:cNvSpPr txBox="1"/>
          <p:nvPr/>
        </p:nvSpPr>
        <p:spPr>
          <a:xfrm>
            <a:off x="1033549" y="5054082"/>
            <a:ext cx="2124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Quin Barnard </a:t>
            </a:r>
          </a:p>
          <a:p>
            <a:r>
              <a:rPr lang="de-DE" dirty="0">
                <a:solidFill>
                  <a:schemeClr val="bg1"/>
                </a:solidFill>
              </a:rPr>
              <a:t>den 16. der 2.</a:t>
            </a:r>
          </a:p>
        </p:txBody>
      </p:sp>
    </p:spTree>
    <p:extLst>
      <p:ext uri="{BB962C8B-B14F-4D97-AF65-F5344CB8AC3E}">
        <p14:creationId xmlns:p14="http://schemas.microsoft.com/office/powerpoint/2010/main" val="348378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Cologne Cathedral: History and Architecture Unveiled">
            <a:extLst>
              <a:ext uri="{FF2B5EF4-FFF2-40B4-BE49-F238E27FC236}">
                <a16:creationId xmlns:a16="http://schemas.microsoft.com/office/drawing/2014/main" id="{F93F72F1-CD23-EC56-D736-CAA4E1F12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99" r="1" b="16234"/>
          <a:stretch>
            <a:fillRect/>
          </a:stretch>
        </p:blipFill>
        <p:spPr bwMode="auto">
          <a:xfrm>
            <a:off x="20" y="10"/>
            <a:ext cx="84502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071E-3825-5002-8C8B-FDE19DFDE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485775"/>
            <a:ext cx="4714871" cy="5691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>
                <a:solidFill>
                  <a:srgbClr val="FFFFFF"/>
                </a:solidFill>
              </a:rPr>
              <a:t>Wer war Böll?</a:t>
            </a:r>
          </a:p>
          <a:p>
            <a:r>
              <a:rPr lang="de-DE" sz="2000" dirty="0">
                <a:solidFill>
                  <a:srgbClr val="FFFFFF"/>
                </a:solidFill>
              </a:rPr>
              <a:t>17. Dezember 1917, Köln</a:t>
            </a:r>
          </a:p>
          <a:p>
            <a:r>
              <a:rPr lang="de-DE" sz="2000" dirty="0">
                <a:solidFill>
                  <a:srgbClr val="FFFFFF"/>
                </a:solidFill>
              </a:rPr>
              <a:t>Germanistik &amp; Klassische Philologie</a:t>
            </a:r>
          </a:p>
          <a:p>
            <a:r>
              <a:rPr lang="de-DE" sz="2000" dirty="0">
                <a:solidFill>
                  <a:srgbClr val="FFFFFF"/>
                </a:solidFill>
              </a:rPr>
              <a:t>1967 Georg Büchner Preis, 1972 Nobelpreis für Literatur</a:t>
            </a:r>
          </a:p>
          <a:p>
            <a:pPr marL="0" indent="0">
              <a:buNone/>
            </a:pPr>
            <a:endParaRPr lang="de-DE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sz="2000" dirty="0">
                <a:solidFill>
                  <a:srgbClr val="FFFFFF"/>
                </a:solidFill>
              </a:rPr>
              <a:t>Was war seine Meinungen über:</a:t>
            </a:r>
          </a:p>
          <a:p>
            <a:r>
              <a:rPr lang="de-DE" sz="2000" dirty="0">
                <a:solidFill>
                  <a:srgbClr val="FFFFFF"/>
                </a:solidFill>
              </a:rPr>
              <a:t>den Staat?</a:t>
            </a:r>
          </a:p>
          <a:p>
            <a:r>
              <a:rPr lang="de-DE" sz="2000" dirty="0">
                <a:solidFill>
                  <a:srgbClr val="FFFFFF"/>
                </a:solidFill>
              </a:rPr>
              <a:t>die Gesellschaft?</a:t>
            </a:r>
          </a:p>
          <a:p>
            <a:r>
              <a:rPr lang="de-DE" sz="2000" dirty="0">
                <a:solidFill>
                  <a:srgbClr val="FFFFFF"/>
                </a:solidFill>
              </a:rPr>
              <a:t>die NSDAP?</a:t>
            </a:r>
          </a:p>
        </p:txBody>
      </p:sp>
      <p:pic>
        <p:nvPicPr>
          <p:cNvPr id="2050" name="Picture 2" descr="Deutsche Biographie - Böll, Heinrich">
            <a:extLst>
              <a:ext uri="{FF2B5EF4-FFF2-40B4-BE49-F238E27FC236}">
                <a16:creationId xmlns:a16="http://schemas.microsoft.com/office/drawing/2014/main" id="{DB7310A7-2AB5-323D-E4A0-F67872A2A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6038"/>
          <a:stretch>
            <a:fillRect/>
          </a:stretch>
        </p:blipFill>
        <p:spPr bwMode="auto">
          <a:xfrm>
            <a:off x="6225997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36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oetic licence: German TV firm bills author - 200 years after his death |  Germany | The Guardian">
            <a:extLst>
              <a:ext uri="{FF2B5EF4-FFF2-40B4-BE49-F238E27FC236}">
                <a16:creationId xmlns:a16="http://schemas.microsoft.com/office/drawing/2014/main" id="{7D1ACB99-B979-F37A-F0CB-48C8AFE773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1" name="Freeform 12">
            <a:extLst>
              <a:ext uri="{FF2B5EF4-FFF2-40B4-BE49-F238E27FC236}">
                <a16:creationId xmlns:a16="http://schemas.microsoft.com/office/drawing/2014/main" id="{522A94E1-AEBD-4286-BFF8-0711E4CD3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622650" y="5181600"/>
            <a:ext cx="9165010" cy="1174750"/>
          </a:xfrm>
          <a:custGeom>
            <a:avLst/>
            <a:gdLst>
              <a:gd name="connsiteX0" fmla="*/ 0 w 9165010"/>
              <a:gd name="connsiteY0" fmla="*/ 1073384 h 1073384"/>
              <a:gd name="connsiteX1" fmla="*/ 9165010 w 9165010"/>
              <a:gd name="connsiteY1" fmla="*/ 1073384 h 1073384"/>
              <a:gd name="connsiteX2" fmla="*/ 9165010 w 9165010"/>
              <a:gd name="connsiteY2" fmla="*/ 266817 h 1073384"/>
              <a:gd name="connsiteX3" fmla="*/ 4757604 w 9165010"/>
              <a:gd name="connsiteY3" fmla="*/ 266817 h 1073384"/>
              <a:gd name="connsiteX4" fmla="*/ 4582505 w 9165010"/>
              <a:gd name="connsiteY4" fmla="*/ 0 h 1073384"/>
              <a:gd name="connsiteX5" fmla="*/ 4407407 w 9165010"/>
              <a:gd name="connsiteY5" fmla="*/ 266817 h 1073384"/>
              <a:gd name="connsiteX6" fmla="*/ 0 w 9165010"/>
              <a:gd name="connsiteY6" fmla="*/ 266817 h 107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5010" h="1073384">
                <a:moveTo>
                  <a:pt x="0" y="1073384"/>
                </a:moveTo>
                <a:lnTo>
                  <a:pt x="9165010" y="1073384"/>
                </a:lnTo>
                <a:lnTo>
                  <a:pt x="9165010" y="266817"/>
                </a:lnTo>
                <a:lnTo>
                  <a:pt x="4757604" y="266817"/>
                </a:lnTo>
                <a:lnTo>
                  <a:pt x="4582505" y="0"/>
                </a:lnTo>
                <a:lnTo>
                  <a:pt x="4407407" y="266817"/>
                </a:lnTo>
                <a:lnTo>
                  <a:pt x="0" y="266817"/>
                </a:lnTo>
                <a:close/>
              </a:path>
            </a:pathLst>
          </a:custGeom>
          <a:solidFill>
            <a:srgbClr val="404040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72DB0-924F-42EB-B095-D7AD871CD16C}"/>
              </a:ext>
            </a:extLst>
          </p:cNvPr>
          <p:cNvSpPr txBox="1"/>
          <p:nvPr/>
        </p:nvSpPr>
        <p:spPr>
          <a:xfrm>
            <a:off x="1771650" y="5254391"/>
            <a:ext cx="8867012" cy="77493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Wanderer, </a:t>
            </a: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kommst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du </a:t>
            </a:r>
            <a:r>
              <a:rPr lang="en-US" sz="4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nach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Spa…</a:t>
            </a:r>
          </a:p>
        </p:txBody>
      </p:sp>
    </p:spTree>
    <p:extLst>
      <p:ext uri="{BB962C8B-B14F-4D97-AF65-F5344CB8AC3E}">
        <p14:creationId xmlns:p14="http://schemas.microsoft.com/office/powerpoint/2010/main" val="3596522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2" name="Rectangle 4131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5B6DB-A4E0-EAE6-9C24-0EC44942C958}"/>
              </a:ext>
            </a:extLst>
          </p:cNvPr>
          <p:cNvSpPr txBox="1"/>
          <p:nvPr/>
        </p:nvSpPr>
        <p:spPr>
          <a:xfrm>
            <a:off x="838200" y="3146400"/>
            <a:ext cx="6140449" cy="286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„…den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blutrünstigen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Gecken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, der es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fertigbrachte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sich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innerhalb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einer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Stunde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in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drei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verschiedenen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Uniformen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zu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präsentieren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…“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FFCFA39-CAA1-E385-8F40-0637AC746F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6805"/>
          <a:stretch>
            <a:fillRect/>
          </a:stretch>
        </p:blipFill>
        <p:spPr bwMode="auto">
          <a:xfrm>
            <a:off x="7668829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noFill/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34" name="Group 4133">
            <a:extLst>
              <a:ext uri="{FF2B5EF4-FFF2-40B4-BE49-F238E27FC236}">
                <a16:creationId xmlns:a16="http://schemas.microsoft.com/office/drawing/2014/main" id="{8B60959F-9B69-4520-A16E-EA6BECC7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4135" name="Freeform: Shape 4134">
              <a:extLst>
                <a:ext uri="{FF2B5EF4-FFF2-40B4-BE49-F238E27FC236}">
                  <a16:creationId xmlns:a16="http://schemas.microsoft.com/office/drawing/2014/main" id="{18D5A6E8-CD1B-4796-ABD1-A6F27F6C0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36" name="Freeform: Shape 4135">
              <a:extLst>
                <a:ext uri="{FF2B5EF4-FFF2-40B4-BE49-F238E27FC236}">
                  <a16:creationId xmlns:a16="http://schemas.microsoft.com/office/drawing/2014/main" id="{D7E12F56-F4EE-4535-8677-C11996E24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0924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00"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D05505-13DA-5BE2-D7D6-68069600A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de-DE" sz="4000"/>
              <a:t>Quellen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9307D-091F-4906-D9D7-71648B821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Balzer, Bernd: Humanität als ästhetisches Prinzip – Die Romane Heinrich Bölls. In: Beth, Hanno (</a:t>
            </a:r>
            <a:r>
              <a:rPr lang="de-DE" sz="1500" dirty="0" err="1">
                <a:solidFill>
                  <a:schemeClr val="tx1">
                    <a:alpha val="80000"/>
                  </a:schemeClr>
                </a:solidFill>
              </a:rPr>
              <a:t>Hg</a:t>
            </a:r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.): Heinrich Böll. Eine Einführung in das Gesamtwerk in Einzelinterpretationen, 2. Überarbeitete und erweiterte Auflage. Königstein 1980, S. 41-67.</a:t>
            </a:r>
            <a:endParaRPr lang="en-US" sz="15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Böll, Heinrich. Der Schriftsteller Heinrich Böll. Ein Biographisch-Bibliographischer Abriss. Köln 1960, S. 24-26.</a:t>
            </a:r>
            <a:endParaRPr lang="en-US" sz="15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Böll, Heinrich: Wanderer, kommst du nach </a:t>
            </a:r>
            <a:r>
              <a:rPr lang="de-DE" sz="1500" dirty="0" err="1">
                <a:solidFill>
                  <a:schemeClr val="tx1">
                    <a:alpha val="80000"/>
                  </a:schemeClr>
                </a:solidFill>
              </a:rPr>
              <a:t>Spa</a:t>
            </a:r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… In: Balzer, Bernd (</a:t>
            </a:r>
            <a:r>
              <a:rPr lang="de-DE" sz="1500" dirty="0" err="1">
                <a:solidFill>
                  <a:schemeClr val="tx1">
                    <a:alpha val="80000"/>
                  </a:schemeClr>
                </a:solidFill>
              </a:rPr>
              <a:t>Hg</a:t>
            </a:r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.): Heinrich Böll Werke. Romane und Erzählungen I. Köln 1977, S. 194-202.</a:t>
            </a:r>
            <a:endParaRPr lang="en-US" sz="15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Glaser, Hermann: Bölls Aufsätze, Kritiken, Reden – </a:t>
            </a:r>
            <a:r>
              <a:rPr lang="de-DE" sz="1500" dirty="0" err="1">
                <a:solidFill>
                  <a:schemeClr val="tx1">
                    <a:alpha val="80000"/>
                  </a:schemeClr>
                </a:solidFill>
              </a:rPr>
              <a:t>Schnappschußprosa</a:t>
            </a:r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 mit Überblende. In: Beth, Hanno (</a:t>
            </a:r>
            <a:r>
              <a:rPr lang="de-DE" sz="1500" dirty="0" err="1">
                <a:solidFill>
                  <a:schemeClr val="tx1">
                    <a:alpha val="80000"/>
                  </a:schemeClr>
                </a:solidFill>
              </a:rPr>
              <a:t>Hg</a:t>
            </a:r>
            <a:r>
              <a:rPr lang="de-DE" sz="1500" dirty="0">
                <a:solidFill>
                  <a:schemeClr val="tx1">
                    <a:alpha val="80000"/>
                  </a:schemeClr>
                </a:solidFill>
              </a:rPr>
              <a:t>.): Heinrich Böll. Eine Einführung in das Gesamtwerk in Einzelinterpretationen, 2. Überarbeitete und erweiterte Auflage. Königstein 1980, S. 149-161.</a:t>
            </a:r>
            <a:endParaRPr lang="en-US" sz="1500" dirty="0">
              <a:solidFill>
                <a:schemeClr val="tx1">
                  <a:alpha val="80000"/>
                </a:schemeClr>
              </a:solidFill>
            </a:endParaRPr>
          </a:p>
          <a:p>
            <a:endParaRPr lang="de-DE" sz="15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8386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A0BD3508104B428AF67C615BE3B437" ma:contentTypeVersion="6" ma:contentTypeDescription="Create a new document." ma:contentTypeScope="" ma:versionID="24114cf2e7ef4c46b161d07d6c7e25f8">
  <xsd:schema xmlns:xsd="http://www.w3.org/2001/XMLSchema" xmlns:xs="http://www.w3.org/2001/XMLSchema" xmlns:p="http://schemas.microsoft.com/office/2006/metadata/properties" xmlns:ns3="8ace2058-f70a-4520-a2cc-a7ded0f71ece" targetNamespace="http://schemas.microsoft.com/office/2006/metadata/properties" ma:root="true" ma:fieldsID="a138081577d3b5b5fa458ac30bb45583" ns3:_="">
    <xsd:import namespace="8ace2058-f70a-4520-a2cc-a7ded0f71ec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e2058-f70a-4520-a2cc-a7ded0f71e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ce2058-f70a-4520-a2cc-a7ded0f71ece" xsi:nil="true"/>
  </documentManagement>
</p:properties>
</file>

<file path=customXml/itemProps1.xml><?xml version="1.0" encoding="utf-8"?>
<ds:datastoreItem xmlns:ds="http://schemas.openxmlformats.org/officeDocument/2006/customXml" ds:itemID="{5311260D-CFCF-4357-9E16-C8D8000148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ce2058-f70a-4520-a2cc-a7ded0f71e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F29407-F403-45EB-A5EA-C2F664DF24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12385E-CA6E-45AF-A9A5-D6D2B2A19106}">
  <ds:schemaRefs>
    <ds:schemaRef ds:uri="8ace2058-f70a-4520-a2cc-a7ded0f71ece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Wanderer, kommst du nach Spa…</vt:lpstr>
      <vt:lpstr>PowerPoint Presentation</vt:lpstr>
      <vt:lpstr>PowerPoint Presentation</vt:lpstr>
      <vt:lpstr>PowerPoint Presentation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Barnard, QC, Mr [27902277@sun.ac.za]</dc:creator>
  <cp:lastModifiedBy>Barnard, QC, Mr [27902277@sun.ac.za]</cp:lastModifiedBy>
  <cp:revision>1</cp:revision>
  <dcterms:created xsi:type="dcterms:W3CDTF">2026-02-15T18:57:37Z</dcterms:created>
  <dcterms:modified xsi:type="dcterms:W3CDTF">2026-02-15T19:22:05Z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0x010100FAA0BD3508104B428AF67C615BE3B437</vt:lpwstr>
  </property>
</Properties>
</file>